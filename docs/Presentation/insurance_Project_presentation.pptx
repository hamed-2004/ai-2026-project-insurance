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89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اسلاید پایانی ارائه که به تحلیل‌های نظری بسیار عمیق اختصاص دارد. به مفهوم پدیده اشباع قوانین و اصل تیغ اوکام اشاره کنید و بگویید که چرا ۴ قاعده بهترین تعادل را ایجاد کرد. دلیل رقابت شانه به شانه رگرسیون چندجمله‌ای با شبکه عصبی عمیق را به تلاقی تعاملی BMI و دخانیات ربط دهید [23, 24].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9987-FF22-9EB2-C22F-A7057A6D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C7D82-F3B1-6CD1-92EC-77E36C5F7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52BFD-CBEC-BC30-753E-D40786366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F29C1-9750-1952-3CB1-A128D6172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5065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371600" y="1488460"/>
            <a:ext cx="9448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fa-IR" sz="1400" b="1" dirty="0">
                <a:solidFill>
                  <a:srgbClr val="14B8A6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به نام خدا</a:t>
            </a:r>
            <a:endParaRPr sz="1400" b="1" dirty="0">
              <a:solidFill>
                <a:srgbClr val="14B8A6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پیش‌بینی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هزینه‌های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بیمه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پزشکی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با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مدل‌های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یادگیری</a:t>
            </a:r>
            <a:r>
              <a:rPr sz="30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هیبرید</a:t>
            </a:r>
            <a:endParaRPr lang="fa-IR" sz="3000" b="1" dirty="0">
              <a:solidFill>
                <a:srgbClr val="FFFFFF"/>
              </a:solidFill>
              <a:latin typeface="Tahoma"/>
              <a:cs typeface="B Titr" panose="00000700000000000000" pitchFamily="2" charset="-78"/>
            </a:endParaRPr>
          </a:p>
          <a:p>
            <a:pPr algn="ctr" rtl="1">
              <a:spcAft>
                <a:spcPts val="600"/>
              </a:spcAft>
            </a:pPr>
            <a:r>
              <a:rPr lang="fa-IR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پروژه نهایی درس هوش مصنوعی مقدماتی</a:t>
            </a:r>
          </a:p>
          <a:p>
            <a:pPr algn="ctr" rtl="1">
              <a:spcBef>
                <a:spcPts val="0"/>
              </a:spcBef>
              <a:spcAft>
                <a:spcPts val="600"/>
              </a:spcAft>
            </a:pPr>
            <a:endParaRPr sz="3000" b="1" dirty="0">
              <a:solidFill>
                <a:srgbClr val="FFFFFF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7046" y="3068709"/>
            <a:ext cx="9448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آماری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چندجمله‌ای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شبکه‌های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lang="en-US" b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r>
              <a:rPr 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و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سیستم</a:t>
            </a:r>
            <a:r>
              <a:rPr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ANFIS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749039"/>
            <a:ext cx="39620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48495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lang="fa-IR" sz="14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دانشجویان: علی‌رضا دیوسالار(40217493)  و حامد بهروزی مقدم(40215633)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endParaRPr sz="1400" b="1" dirty="0">
              <a:solidFill>
                <a:srgbClr val="FFFFFF"/>
              </a:solidFill>
              <a:latin typeface="Tahoma"/>
              <a:cs typeface="B Titr" panose="00000700000000000000" pitchFamily="2" charset="-78"/>
            </a:endParaRP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4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استاد</a:t>
            </a:r>
            <a:r>
              <a:rPr sz="14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راهنما</a:t>
            </a:r>
            <a:r>
              <a:rPr sz="14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: </a:t>
            </a:r>
            <a:r>
              <a:rPr sz="14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آقای</a:t>
            </a:r>
            <a:r>
              <a:rPr sz="14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دکتر</a:t>
            </a:r>
            <a:r>
              <a:rPr sz="1400" b="1" dirty="0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ahoma"/>
                <a:cs typeface="B Titr" panose="00000700000000000000" pitchFamily="2" charset="-78"/>
              </a:rPr>
              <a:t>علیاری</a:t>
            </a:r>
            <a:endParaRPr lang="fa-IR" sz="1400" b="1" dirty="0">
              <a:solidFill>
                <a:srgbClr val="FFFFFF"/>
              </a:solidFill>
              <a:latin typeface="Tahoma"/>
              <a:cs typeface="B Titr" panose="00000700000000000000" pitchFamily="2" charset="-78"/>
            </a:endParaRPr>
          </a:p>
          <a:p>
            <a:pPr algn="ctr" rtl="1">
              <a:spcBef>
                <a:spcPts val="0"/>
              </a:spcBef>
              <a:spcAft>
                <a:spcPts val="400"/>
              </a:spcAft>
            </a:pPr>
            <a:endParaRPr sz="1400" b="1" dirty="0">
              <a:solidFill>
                <a:srgbClr val="FFFFFF"/>
              </a:solidFill>
              <a:latin typeface="Tahoma"/>
              <a:cs typeface="B Titr" panose="00000700000000000000" pitchFamily="2" charset="-78"/>
            </a:endParaRPr>
          </a:p>
          <a:p>
            <a:pPr algn="ctr" rtl="1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دانشگاه</a:t>
            </a:r>
            <a:r>
              <a:rPr sz="1400"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صنعتی</a:t>
            </a:r>
            <a:r>
              <a:rPr sz="1400"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خواجه</a:t>
            </a:r>
            <a:r>
              <a:rPr sz="1400"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نصیرالدین</a:t>
            </a:r>
            <a:r>
              <a:rPr sz="1400" b="0" dirty="0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Tahoma"/>
                <a:cs typeface="B Nazanin" panose="00000400000000000000" pitchFamily="2" charset="-78"/>
              </a:rPr>
              <a:t>طوسی</a:t>
            </a:r>
            <a:endParaRPr sz="1400" b="0" dirty="0">
              <a:solidFill>
                <a:schemeClr val="bg1"/>
              </a:solidFill>
              <a:latin typeface="Tahoma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مقدمه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هدف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مهندسی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پروژه</a:t>
            </a:r>
            <a:endParaRPr sz="2400" b="1" dirty="0">
              <a:solidFill>
                <a:srgbClr val="1E293B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1200"/>
              </a:spcAft>
            </a:pP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چالش‌های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تخمین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حق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پزشکی</a:t>
            </a:r>
            <a:endParaRPr sz="16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ماهیت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رفتارهای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تکین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(Singular)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12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توزیع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آماری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هزینه‌های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درمانی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نشان‌دهنده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ناهمگونی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شدیدی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؛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ویژگی‌هایی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نظیر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BMI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صورت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تکی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ملایمی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دارند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اما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تلاقی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آن‌ها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وضعیت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دخانیات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باعث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جهش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سهمگین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متغیر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هدف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[3]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اهمیت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حیاتی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تفسیرپذیری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(Interpretability)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سامانه‌های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تصمیم‌یار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بالینی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صرفاً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داشتن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دقتِ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کافی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نیست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هوشمند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باید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قابلیت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تبیین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ارائه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دلایل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ریاضی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شفاف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پشت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تصمیم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پیش‌بینی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دارا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باشد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[3, 4]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3063240"/>
            <a:ext cx="56692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0" y="4754880"/>
            <a:ext cx="56692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0294" y="1470845"/>
            <a:ext cx="539496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۱.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آماری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جعبه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سفید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)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تفسیرپذیری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کامل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اما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محدودیت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مطلق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کشف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تعاملات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پیچیده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بدون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استخراج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دستی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ویژگی‌های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تعاملی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[4]</a:t>
            </a:r>
            <a:r>
              <a:rPr lang="fa-IR" sz="115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3154680"/>
            <a:ext cx="539496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۲.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شبکه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عصبیMLP</a:t>
            </a:r>
            <a:r>
              <a:rPr lang="en-US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جعبه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سیاه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)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مدل‌سازی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فوق‌العاده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بدون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نیاز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استخراج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دستی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الگوهای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چندبعدی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تفاوت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وزن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انسان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قابل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تفسیر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نیست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[4]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2200" y="4846320"/>
            <a:ext cx="539496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۳.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معماری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تلفیقیANFIS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جعبه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شیشه‌ای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)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سیستم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استنتاج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فازی-عصبی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تطبیقی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؛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ترکیب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هوشمندانه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استدلال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انسان‌محور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تفسیرپذیری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یادگیری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بهینه‌ساز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شبکه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چندلایه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[4]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CACFC-2E22-BD72-7246-57CE2AB31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12" y="3605713"/>
            <a:ext cx="4781695" cy="24812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پیش‌پردازش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داده‌ها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تحلیل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اکتشافی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37744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۱.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رمزگذاری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دودویی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Label Encoding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متغیرهای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اسمی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باینری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نظیر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جنسیت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(sex)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مصرف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دخانیات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(smoker)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توسط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انکودر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مقادیر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عددی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۰و ۱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نگاشت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ورود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آن‌ها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مدل‌های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عددی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میسر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شود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[5]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8416" y="1463040"/>
            <a:ext cx="2438434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65576" y="1600200"/>
            <a:ext cx="237744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۲.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تبدیل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چندکلاسه‌ها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One-Hot Encoding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منطقه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جغرافیایی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(region)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الگوریتم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One-Hot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جلوگیری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پدیده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هم‌خطی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چندگانه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(Multicollinearity)،</a:t>
            </a:r>
            <a:r>
              <a:rPr lang="en-US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drop_first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=True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اعمال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گردید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[5]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600200"/>
            <a:ext cx="237744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۳.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جلوگیری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نشت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داده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Data Leakage Guard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تقسیم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نسبت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۸۰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به۲۰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آموزش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صورت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گرفت</a:t>
            </a:r>
            <a:r>
              <a:rPr lang="fa-IR" sz="115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مقیاس‌دهی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StandardScaler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منحصر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مجموعه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آموزش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انجام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سپس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روی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[5, 6]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70848" y="146304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08008" y="1600200"/>
            <a:ext cx="237744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۴.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توزیع‌ها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EDA Insights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توزیع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متغیر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هدف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چولگی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شدید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هزینه‌های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رایج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رخدادهای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نادر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گران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اثر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مصرف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سیگار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وضوح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مرز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شیفت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متمایز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می‌کند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[6]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5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F47F6E-2070-25D6-81DC-EF7614093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20" y="3462268"/>
            <a:ext cx="749516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فاز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اول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: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رگرسیون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چندجمله‌ای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اثر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تعاملی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BMI * Smoker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کشف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خودکار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اثرات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متقابل</a:t>
            </a:r>
            <a:r>
              <a:rPr sz="16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6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متغیرها</a:t>
            </a:r>
            <a:endParaRPr sz="16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ماهیت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پنهان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اثر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تعاملی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(Interaction Effects)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یافته‌های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اکتشافی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نشان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شاخص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بدنی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(BMI)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خودی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خود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همبستگی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ضعیفی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هزینه‌ها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دارد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اما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همزمانی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شاخص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بدنی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وضعیت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سیگاری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بودن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فرد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هزینه‌های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درمانی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صورت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انفجاری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افزایش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می‌دهد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[7]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هوشمند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Pipeline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چندجمله‌ای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طراحی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Pipeline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شامل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ماژول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PolynomialFeatures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درجه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۲،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تمامی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ترکیبات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ضربی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ممکن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ویژگی‌ها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طور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صریح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تولید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[7, 8].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مستوی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ساده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یک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رویه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خمیده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بسیار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منعطف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تبدیل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کرد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[9]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400" b="1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4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4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کلاسیک</a:t>
            </a:r>
            <a:r>
              <a:rPr sz="14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(Linear Regression)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ضریب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تبیین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R² = 0.7836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میانگین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مجذور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ریشه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RMSE = 5796.28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میانگین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مطلق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MAE = 4181.19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تحمیل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فرضیات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کاملاً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عدم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توانایی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درک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همبستگی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ضربی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متغیرها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39"/>
            <a:ext cx="56692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53035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چندجمله‌ای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درجه۲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(Polynomial Regression d=2</a:t>
            </a:r>
            <a:r>
              <a:rPr lang="en-US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lang="fa-IR"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endParaRPr sz="14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ضریب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تبیین</a:t>
            </a:r>
            <a:r>
              <a:rPr lang="fa-IR"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R² = 0.8666 </a:t>
            </a:r>
            <a:r>
              <a:rPr lang="fa-IR"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ارتقای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چشمگیر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دقت</a:t>
            </a:r>
            <a:r>
              <a:rPr lang="fa-IR"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)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میانگین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مجذور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ریشه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RMSE = 4551.13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endParaRPr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میانگین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مطلق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MAE = 2729.50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کاهش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چشمگیر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خطای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پایه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واسطه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تولید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صریح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فیچر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تعاملی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BMI * Smoker [9]</a:t>
            </a:r>
            <a:r>
              <a:rPr lang="fa-IR"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64748B"/>
              </a:solidFill>
              <a:latin typeface="Tahoma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دوم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طراحی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شبکه‌های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sz="2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MLP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توسعه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شبکه‌های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ساختار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هرمی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جهت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مدل‌سازی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الگوهای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پنهان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داده‌های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عددی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[9].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291840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35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معماری</a:t>
            </a:r>
            <a:r>
              <a:rPr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5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پایه</a:t>
            </a:r>
            <a:r>
              <a:rPr lang="fa-IR"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MLP (64-32)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R² = 0.7937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RMSE = 5658.85</a:t>
            </a: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MAE = 4074.58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شبکه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پنهان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دو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میانی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عرض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کم</a:t>
            </a:r>
            <a:r>
              <a:rPr lang="fa-IR" sz="110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قادر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مدل‌سازی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الگوهای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سطحی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ولی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فاقد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عمق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کافی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استخراج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الگوهای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[11]</a:t>
            </a:r>
            <a:r>
              <a:rPr lang="fa-IR"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64748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566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057400"/>
            <a:ext cx="3291840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35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معماری</a:t>
            </a:r>
            <a:r>
              <a:rPr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5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متوسط</a:t>
            </a:r>
            <a:r>
              <a:rPr lang="fa-IR"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35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MLP (128-64-32)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R² = 0.8596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RMSE = 4668.70</a:t>
            </a: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MAE = 2882.57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طراحی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هرمی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سه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lang="fa-IR" sz="110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بهبود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محسوسی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درک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غیرخطی‌ها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نشان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می‌دهد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نسبت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مدل‌های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کلاسیک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عملکرد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پایدارتری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دارد</a:t>
            </a:r>
            <a:r>
              <a:rPr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[11]</a:t>
            </a:r>
            <a:r>
              <a:rPr lang="fa-IR" sz="11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64748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5661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3291840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35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بهترین</a:t>
            </a:r>
            <a:r>
              <a:rPr sz="135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5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ساختار</a:t>
            </a:r>
            <a:r>
              <a:rPr lang="fa-IR" sz="135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35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MLP (256-128-64-32)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R² = 0.8696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RMSE = 4499.16</a:t>
            </a: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MAE = 2545.79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معماری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هرمی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۴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لایه‌ای</a:t>
            </a:r>
            <a:r>
              <a:rPr lang="fa-IR" sz="110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تدریج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ویژگی‌های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انتزاعی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فشرده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می‌کند</a:t>
            </a:r>
            <a:r>
              <a:rPr lang="fa-IR" sz="110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معماری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بالاترین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دقت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پیش‌بینی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میان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کل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مدل‌ها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ثبت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کرد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[11]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989320"/>
            <a:ext cx="1127729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10944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✓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پیکربندی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بهینه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آموزش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: 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تابع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فعال‌ساز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ReLU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بهینه‌ساز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Adam 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و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استفاده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Early Stopping 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روی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۱۰٪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داده‌های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آموزش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ولیدیشن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جهت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توقف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به‌موقع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پیشگیری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بیش‌برازش</a:t>
            </a:r>
            <a:r>
              <a:rPr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 [10, 11]</a:t>
            </a:r>
            <a:r>
              <a:rPr lang="fa-IR" sz="1050" b="1" dirty="0">
                <a:solidFill>
                  <a:srgbClr val="FFFFFF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050" b="1" dirty="0">
              <a:solidFill>
                <a:srgbClr val="FFFFFF"/>
              </a:solidFill>
              <a:latin typeface="Tahoma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فاز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سوم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: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ساختار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ریاضی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۵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لایه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سیستم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ANFIS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گام‌به‌گام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خط‌به‌خط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ساختار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ریاضی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Sugeno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بر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اساس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مقاله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Jang (1993) </a:t>
            </a:r>
            <a:r>
              <a:rPr lang="en-US"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NumPy </a:t>
            </a:r>
            <a:r>
              <a:rPr lang="fa-IR"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خام</a:t>
            </a:r>
            <a:r>
              <a:rPr sz="1300" b="0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 [11, 14].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06654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920239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۱.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فازی‌سازی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Fuzzification</a:t>
            </a: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محاسبه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درجه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عضویت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ورودی‌ها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توابع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عضویت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گوسی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مراکز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(c) و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انحراف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معیار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(σ)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هستند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lang="en-US" sz="11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[12, 13]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199" y="1737360"/>
            <a:ext cx="206654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1" y="1828800"/>
            <a:ext cx="1920239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۲.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قدرت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Rule Fire Strength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استفاده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عملگر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ضرب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(T-Norm)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محاسبه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همزمان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قدرت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شلیک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اساس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خروجی‌های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قبل</a:t>
            </a:r>
            <a:br>
              <a:rPr dirty="0">
                <a:cs typeface="B Nazanin" panose="00000400000000000000" pitchFamily="2" charset="-78"/>
              </a:rPr>
            </a:b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[13]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198" y="1737360"/>
            <a:ext cx="206654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0" y="1828800"/>
            <a:ext cx="1920239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۳.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نرمال‌سازی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r" rtl="1"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Normalization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محاسبه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سهم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شلیک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نسبت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جمع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کل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قدرت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تمامی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نرمال‌سازی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وزن‌ه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ا.</a:t>
            </a:r>
            <a:br>
              <a:rPr dirty="0">
                <a:cs typeface="B Nazanin" panose="00000400000000000000" pitchFamily="2" charset="-78"/>
              </a:rPr>
            </a:b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[13, 14]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7" y="1737360"/>
            <a:ext cx="206654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7" y="1828800"/>
            <a:ext cx="1920239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۴.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نتیجه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Consequent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ضرب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وزن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نرمال‌یافته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یک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معادله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مرتبه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اول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متغیرهای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ورودی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تابع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درجه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اول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br>
              <a:rPr dirty="0">
                <a:cs typeface="B Nazanin" panose="00000400000000000000" pitchFamily="2" charset="-78"/>
              </a:rPr>
            </a:b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[13</a:t>
            </a:r>
            <a:r>
              <a:rPr lang="en-US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]</a:t>
            </a:r>
            <a:endParaRPr sz="11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01196" y="1737360"/>
            <a:ext cx="206654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74348" y="1828800"/>
            <a:ext cx="1920239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۵.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تجمیع</a:t>
            </a:r>
            <a:r>
              <a:rPr sz="13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خروجی</a:t>
            </a:r>
            <a:endParaRPr sz="13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64748B"/>
                </a:solidFill>
                <a:latin typeface="Tahoma"/>
                <a:cs typeface="B Nazanin" panose="00000400000000000000" pitchFamily="2" charset="-78"/>
              </a:rPr>
              <a:t>Aggregation</a:t>
            </a: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تجمیع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نتایج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قبل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جهت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تولید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مقدار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عددی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پیوسته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نهایی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حق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درمان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[14]</a:t>
            </a:r>
            <a:r>
              <a:rPr lang="fa-IR" sz="11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</a:t>
            </a:r>
            <a:endParaRPr sz="11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1A5E27-CC28-A1DB-EECE-8E7A470F4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9" y="3520440"/>
            <a:ext cx="6043195" cy="32594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الگوریتم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یادگیری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هیبریدی</a:t>
            </a:r>
            <a:r>
              <a:rPr lang="fa-IR"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: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کمترین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مربعات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خطا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گرادیان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کاهشی</a:t>
            </a:r>
            <a:endParaRPr sz="2400" b="1" dirty="0">
              <a:solidFill>
                <a:srgbClr val="1E293B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رفت</a:t>
            </a:r>
            <a:r>
              <a:rPr lang="fa-IR"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: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حل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صریح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بهینه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خطی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ضرورت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تفکیک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یادگیری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هیبریدی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(Hybrid Learning)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روزرسانی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همزمان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اول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چهارم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گرادیان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کاهشی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معمولی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منجر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ناپایداری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شدید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آموزش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[17].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بهینه‌سازی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دقیق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(Forward Pass</a:t>
            </a:r>
            <a:r>
              <a:rPr lang="en-US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اول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فیکس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داشته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سپس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چهارم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ضرایب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Sugeno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یعنی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p، q، r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صریح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مستقیم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کمترین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مربعات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(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SE - Least Squares Estimation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)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استفاده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تابع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np.linalg.lstsq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محیط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NumPy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استخراج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بهینه‌سازی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سراسری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[17, 18].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برگشت</a:t>
            </a:r>
            <a:r>
              <a:rPr lang="fa-IR"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: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به‌روزرسانی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اول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به‌روزرسانی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پیش‌فرض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(Premise)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پس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فیکس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چهارم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محاسبه‌شده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خروجی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مسیر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برگشت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(Backward Pass)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سمت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لایه‌های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عقب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انتشار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[17].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بهینه‌سازی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گرادیان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کاهشی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(Gradient Descent)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8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پارامترهای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غیرخطی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توابع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عضویت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گوسی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شامل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مراکز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(c)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انحراف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استاندارد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(σ)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وسیله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گرادیان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کاهشی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استفاده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فرمولاسیون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مشتق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زنجیره‌ای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ماتریسی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ارائه‌شده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پروژه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بازنویسی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آپدیت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می‌شوند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[18, 19]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فاز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سوم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: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مدیریت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چالش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نفرین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ابعاد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در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سیستم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فازی</a:t>
            </a:r>
            <a:endParaRPr sz="2400" b="1" dirty="0">
              <a:solidFill>
                <a:srgbClr val="1E293B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بخش‌بندی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شبکه‌ای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چالش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انفجار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فازی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چالش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ریاضی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نفرین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ابعاد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(Curse of Dimensionality)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فازی‌سازی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کلاسیک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بخش‌بندی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شبکه‌ای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(Grid Partitioning)،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حاصل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ضرب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حالت‌های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توابع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عضویت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ورودی‌ها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هستند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[20].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فاجعه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بیش‌برازش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(Overfitting)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تمامی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۱۲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دموگرافیک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دیتاست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تنها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۲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تابع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عضویت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وارد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سیستم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می‌شدند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تعداد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معادل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2¹² = 4096 </a:t>
            </a:r>
            <a:r>
              <a:rPr lang="fa-IR"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می‌گردید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تعداد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۱۳۳۸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سطر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فاجعه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همگرا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کاذب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Overfitting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مطلق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پدید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می‌آورد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راهکار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مهندسی</a:t>
            </a:r>
            <a:r>
              <a:rPr lang="fa-IR"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: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گزینش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ویژگی‌ها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پایداری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غربال‌گری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ورودی‌ها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Feature Selection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2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۳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متغیر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کلیدی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اصلی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شامل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(Age)،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شاخص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بدنی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(BMI)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وضعیت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دخانیات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(Smoker)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استخراج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عنوان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تغذیه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اصلی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لحاظ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[20].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طراحی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حلقه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خودکار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سنجش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سنجش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دقیق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رفتار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ANFIS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کنترل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چالش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ابعاد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حلقه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خودکاری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مقایسه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پایداری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قالب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۳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سناریوی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۲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۴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۸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قانون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طراحی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عملکرد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سناریو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صورت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تجربی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پایش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[20].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ارزیابی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جامع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مقایسه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عملکرد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نهایی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مدل‌ها</a:t>
            </a:r>
            <a:endParaRPr sz="2400" b="1" dirty="0">
              <a:solidFill>
                <a:srgbClr val="1E293B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19787"/>
              </p:ext>
            </p:extLst>
          </p:nvPr>
        </p:nvGraphicFramePr>
        <p:xfrm>
          <a:off x="548640" y="1463040"/>
          <a:ext cx="5120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مدل پیاده‌سازی شده</a:t>
                      </a:r>
                    </a:p>
                  </a:txBody>
                  <a:tcPr marL="50800" marR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R² Score</a:t>
                      </a:r>
                    </a:p>
                  </a:txBody>
                  <a:tcPr marL="50800" marR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RMSE ($)</a:t>
                      </a:r>
                    </a:p>
                  </a:txBody>
                  <a:tcPr marL="50800" marR="508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MAE ($)</a:t>
                      </a:r>
                    </a:p>
                  </a:txBody>
                  <a:tcPr marL="50800" marR="508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MLP (256-128-64-32)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0.8696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4499.16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2545.79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Tahoma"/>
                          <a:cs typeface="B Nazanin" panose="00000400000000000000" pitchFamily="2" charset="-78"/>
                        </a:rPr>
                        <a:t>Polynomial Reg (d=2)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0.8666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4551.13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2729.50</a:t>
                      </a:r>
                    </a:p>
                  </a:txBody>
                  <a:tcPr marL="50800" marR="50800"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MLP (128-64-32)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0.8596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4668.70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2882.57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MLP (64-32)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0.7937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5658.85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4074.58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Linear Regression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0.7836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5796.28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4181.19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ANFIS (8 rules)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0.7528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6194.96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4676.71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ANFIS (4 rules)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0.7528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6195.01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4676.74</a:t>
                      </a:r>
                    </a:p>
                  </a:txBody>
                  <a:tcPr marL="50800" marR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E293B"/>
                          </a:solidFill>
                          <a:latin typeface="Tahoma"/>
                          <a:cs typeface="B Nazanin" panose="00000400000000000000" pitchFamily="2" charset="-78"/>
                        </a:rPr>
                        <a:t>ANFIS (2 rules)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0.7528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6195.01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E293B"/>
                          </a:solidFill>
                          <a:latin typeface="DejaVu Sans"/>
                          <a:cs typeface="B Nazanin" panose="00000400000000000000" pitchFamily="2" charset="-78"/>
                        </a:rPr>
                        <a:t>4676.74</a:t>
                      </a:r>
                    </a:p>
                  </a:txBody>
                  <a:tcPr marL="50800" marR="50800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تحلیل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نهایی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،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پدیده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اشباع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قوانین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و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اصل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تیغ</a:t>
            </a:r>
            <a:r>
              <a:rPr sz="2400" b="1" dirty="0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 </a:t>
            </a:r>
            <a:r>
              <a:rPr sz="2400" b="1" dirty="0" err="1">
                <a:solidFill>
                  <a:srgbClr val="1E293B"/>
                </a:solidFill>
                <a:latin typeface="Tahoma"/>
                <a:cs typeface="B Titr" panose="00000700000000000000" pitchFamily="2" charset="-78"/>
              </a:rPr>
              <a:t>اوکام</a:t>
            </a:r>
            <a:endParaRPr sz="2400" b="1" dirty="0">
              <a:solidFill>
                <a:srgbClr val="1E293B"/>
              </a:solidFill>
              <a:latin typeface="Tahoma"/>
              <a:cs typeface="B Titr" panose="000007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216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تحلیل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اشباع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اصل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تیغ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اوکام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پدیده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اشباع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(Rule Saturation)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بهینه‌سازی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ANFIS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مشاهده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افزایش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۴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۸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تنها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خطای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کاهش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نداد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بلکه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دلیل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پیچیدگی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کاذب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انطباق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افراطی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سطرها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افت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اندکی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ضریب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تبیین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ایجاد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[23].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تکیه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اصل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علمی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تیغ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اوکام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(Occam's Razor)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سادگی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مدل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یک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ویژگی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اساسی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یک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سیستم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تنها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۴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قاعده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موفق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بالاترین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توازن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پایداری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برسد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همچنین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ساختار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قابلیت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تعریف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زبانی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قوانین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پیش‌بینی‌ها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متخصصان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درمانی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کارشناسان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بیمه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طور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کامل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ملموس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تبیین‌پذیر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می‌سازد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[23].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توجیه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ریاضی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برتری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500" b="1" dirty="0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500" b="1" dirty="0" err="1">
                <a:solidFill>
                  <a:srgbClr val="0D9488"/>
                </a:solidFill>
                <a:latin typeface="Tahoma"/>
                <a:cs typeface="B Nazanin" panose="00000400000000000000" pitchFamily="2" charset="-78"/>
              </a:rPr>
              <a:t>چندجمله‌ای</a:t>
            </a:r>
            <a:endParaRPr sz="1500" b="1" dirty="0">
              <a:solidFill>
                <a:srgbClr val="0D9488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برابری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کارایی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چندجمله‌ای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درجه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۲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MLP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واقعیت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یک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رگرسیون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درجه۲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آماری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R² = 0.8666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شانه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شانه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شبکه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endParaRPr lang="fa-IR" sz="1200" b="0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1000"/>
              </a:spcAft>
            </a:pP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R² = 0.8696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حرکت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می‌کند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اثبات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می‌کند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ماهیت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اصلی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ساختار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داده‌ها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پایه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تعامل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مستقیم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BMI * Smoker </a:t>
            </a:r>
            <a:r>
              <a:rPr lang="fa-IR"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استوار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20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[23].</a:t>
            </a:r>
          </a:p>
          <a:p>
            <a:pPr algn="just" rtl="1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دستاورد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مهندسی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ارزش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هیبریدی</a:t>
            </a:r>
            <a:r>
              <a:rPr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نهایی</a:t>
            </a:r>
            <a:r>
              <a:rPr lang="fa-IR" sz="1300" b="1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:</a:t>
            </a:r>
            <a:endParaRPr sz="1300" b="1" dirty="0">
              <a:solidFill>
                <a:srgbClr val="1E293B"/>
              </a:solidFill>
              <a:latin typeface="Tahoma"/>
              <a:cs typeface="B Nazanin" panose="00000400000000000000" pitchFamily="2" charset="-78"/>
            </a:endParaRPr>
          </a:p>
          <a:p>
            <a:pPr algn="just" rtl="1">
              <a:spcBef>
                <a:spcPts val="0"/>
              </a:spcBef>
              <a:spcAft>
                <a:spcPts val="600"/>
              </a:spcAft>
            </a:pP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پروژه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موفقیت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اثبات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کرد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که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پیاده‌سازی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همزمان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رویکردهای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آماری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فازی-عصبی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ابعاد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متمایزی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از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مسئله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را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روشن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می‌سازد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.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موازنه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تفسیرپذیری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فوق‌العاده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قواعد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فازی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و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توان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محاسباتی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عمیق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شبکه‌های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عصبی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،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آینده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توسعه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سیستم‌های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پیش‌بین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بالینی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</a:t>
            </a:r>
            <a:r>
              <a:rPr sz="1150" b="0" dirty="0" err="1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است</a:t>
            </a:r>
            <a:r>
              <a:rPr sz="1150" b="0" dirty="0">
                <a:solidFill>
                  <a:srgbClr val="1E293B"/>
                </a:solidFill>
                <a:latin typeface="Tahoma"/>
                <a:cs typeface="B Nazanin" panose="00000400000000000000" pitchFamily="2" charset="-78"/>
              </a:rPr>
              <a:t> [23, 24].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529D-CDDF-C984-DA95-EB0E17B0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05C264-72A3-C756-5487-A65D53306400}"/>
              </a:ext>
            </a:extLst>
          </p:cNvPr>
          <p:cNvSpPr/>
          <p:nvPr/>
        </p:nvSpPr>
        <p:spPr>
          <a:xfrm>
            <a:off x="457200" y="1051560"/>
            <a:ext cx="1127729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2FEB08-A68D-8451-3ECD-5A2EC2872FBC}"/>
              </a:ext>
            </a:extLst>
          </p:cNvPr>
          <p:cNvSpPr txBox="1">
            <a:spLocks/>
          </p:cNvSpPr>
          <p:nvPr/>
        </p:nvSpPr>
        <p:spPr>
          <a:xfrm>
            <a:off x="2209647" y="2781536"/>
            <a:ext cx="7772400" cy="147002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>
                <a:solidFill>
                  <a:schemeClr val="accent1">
                    <a:lumMod val="75000"/>
                  </a:schemeClr>
                </a:solidFill>
                <a:cs typeface="B Titr" panose="00000700000000000000" pitchFamily="2" charset="-78"/>
              </a:rPr>
              <a:t>تشکر از توجه شما</a:t>
            </a:r>
            <a:endParaRPr lang="en-US" dirty="0">
              <a:solidFill>
                <a:schemeClr val="accent1">
                  <a:lumMod val="75000"/>
                </a:schemeClr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063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1850</Words>
  <Application>Microsoft Office PowerPoint</Application>
  <PresentationFormat>Widescreen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 Nazanin</vt:lpstr>
      <vt:lpstr>B Titr</vt:lpstr>
      <vt:lpstr>Calibri</vt:lpstr>
      <vt:lpstr>DejaVu Sans</vt:lpstr>
      <vt:lpstr>IranNastaliq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AliReza</dc:creator>
  <cp:keywords/>
  <dc:description>generated using python-pptx</dc:description>
  <cp:lastModifiedBy>Eniac</cp:lastModifiedBy>
  <cp:revision>11</cp:revision>
  <dcterms:created xsi:type="dcterms:W3CDTF">2013-01-27T09:14:16Z</dcterms:created>
  <dcterms:modified xsi:type="dcterms:W3CDTF">2026-08-12T16:32:59Z</dcterms:modified>
  <cp:category/>
</cp:coreProperties>
</file>